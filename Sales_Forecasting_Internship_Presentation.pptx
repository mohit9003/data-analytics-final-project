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8" r:id="rId11"/>
    <p:sldId id="270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14.18</c:v>
                </c:pt>
                <c:pt idx="1">
                  <c:v>16.100000000000001</c:v>
                </c:pt>
                <c:pt idx="2">
                  <c:v>19.57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5-48C1-8C10-8BBA5EDA85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(₹M)</c:v>
                </c:pt>
              </c:strCache>
            </c:strRef>
          </c:tx>
          <c:spPr>
            <a:ln w="31750" cap="flat">
              <a:solidFill>
                <a:srgbClr val="1F6F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strRef>
              <c:f>Sheet1!$A$2:$A$37</c:f>
              <c:strCache>
                <c:ptCount val="36"/>
                <c:pt idx="0">
                  <c:v>Jan 23</c:v>
                </c:pt>
                <c:pt idx="1">
                  <c:v>Feb 23</c:v>
                </c:pt>
                <c:pt idx="2">
                  <c:v>Mar 23</c:v>
                </c:pt>
                <c:pt idx="3">
                  <c:v>Apr 23</c:v>
                </c:pt>
                <c:pt idx="4">
                  <c:v>May 23</c:v>
                </c:pt>
                <c:pt idx="5">
                  <c:v>Jun 23</c:v>
                </c:pt>
                <c:pt idx="6">
                  <c:v>Jul 23</c:v>
                </c:pt>
                <c:pt idx="7">
                  <c:v>Aug 23</c:v>
                </c:pt>
                <c:pt idx="8">
                  <c:v>Sep 23</c:v>
                </c:pt>
                <c:pt idx="9">
                  <c:v>Oct 23</c:v>
                </c:pt>
                <c:pt idx="10">
                  <c:v>Nov 23</c:v>
                </c:pt>
                <c:pt idx="11">
                  <c:v>Dec 23</c:v>
                </c:pt>
                <c:pt idx="12">
                  <c:v>Jan 24</c:v>
                </c:pt>
                <c:pt idx="13">
                  <c:v>Feb 24</c:v>
                </c:pt>
                <c:pt idx="14">
                  <c:v>Mar 24</c:v>
                </c:pt>
                <c:pt idx="15">
                  <c:v>Apr 24</c:v>
                </c:pt>
                <c:pt idx="16">
                  <c:v>May 24</c:v>
                </c:pt>
                <c:pt idx="17">
                  <c:v>Jun 24</c:v>
                </c:pt>
                <c:pt idx="18">
                  <c:v>Jul 24</c:v>
                </c:pt>
                <c:pt idx="19">
                  <c:v>Aug 24</c:v>
                </c:pt>
                <c:pt idx="20">
                  <c:v>Sep 24</c:v>
                </c:pt>
                <c:pt idx="21">
                  <c:v>Oct 24</c:v>
                </c:pt>
                <c:pt idx="22">
                  <c:v>Nov 24</c:v>
                </c:pt>
                <c:pt idx="23">
                  <c:v>Dec 24</c:v>
                </c:pt>
                <c:pt idx="24">
                  <c:v>Jan 25</c:v>
                </c:pt>
                <c:pt idx="25">
                  <c:v>Feb 25</c:v>
                </c:pt>
                <c:pt idx="26">
                  <c:v>Mar 25</c:v>
                </c:pt>
                <c:pt idx="27">
                  <c:v>Apr 25</c:v>
                </c:pt>
                <c:pt idx="28">
                  <c:v>May 25</c:v>
                </c:pt>
                <c:pt idx="29">
                  <c:v>Jun 25</c:v>
                </c:pt>
                <c:pt idx="30">
                  <c:v>Jul 25</c:v>
                </c:pt>
                <c:pt idx="31">
                  <c:v>Aug 25</c:v>
                </c:pt>
                <c:pt idx="32">
                  <c:v>Sep 25</c:v>
                </c:pt>
                <c:pt idx="33">
                  <c:v>Oct 25</c:v>
                </c:pt>
                <c:pt idx="34">
                  <c:v>Nov 25</c:v>
                </c:pt>
                <c:pt idx="35">
                  <c:v>Dec 25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12.32</c:v>
                </c:pt>
                <c:pt idx="1">
                  <c:v>10.199999999999999</c:v>
                </c:pt>
                <c:pt idx="2">
                  <c:v>11.57</c:v>
                </c:pt>
                <c:pt idx="3">
                  <c:v>11.98</c:v>
                </c:pt>
                <c:pt idx="4">
                  <c:v>9.73</c:v>
                </c:pt>
                <c:pt idx="5">
                  <c:v>10.83</c:v>
                </c:pt>
                <c:pt idx="6">
                  <c:v>11.51</c:v>
                </c:pt>
                <c:pt idx="7">
                  <c:v>11.47</c:v>
                </c:pt>
                <c:pt idx="8">
                  <c:v>11.73</c:v>
                </c:pt>
                <c:pt idx="9">
                  <c:v>13.32</c:v>
                </c:pt>
                <c:pt idx="10">
                  <c:v>14.89</c:v>
                </c:pt>
                <c:pt idx="11">
                  <c:v>12.24</c:v>
                </c:pt>
                <c:pt idx="12">
                  <c:v>13.75</c:v>
                </c:pt>
                <c:pt idx="13">
                  <c:v>10.84</c:v>
                </c:pt>
                <c:pt idx="14">
                  <c:v>10.58</c:v>
                </c:pt>
                <c:pt idx="15">
                  <c:v>11.01</c:v>
                </c:pt>
                <c:pt idx="16">
                  <c:v>13.27</c:v>
                </c:pt>
                <c:pt idx="17">
                  <c:v>13.75</c:v>
                </c:pt>
                <c:pt idx="18">
                  <c:v>13.09</c:v>
                </c:pt>
                <c:pt idx="19">
                  <c:v>11.97</c:v>
                </c:pt>
                <c:pt idx="20">
                  <c:v>12.84</c:v>
                </c:pt>
                <c:pt idx="21">
                  <c:v>15.19</c:v>
                </c:pt>
                <c:pt idx="22">
                  <c:v>15.81</c:v>
                </c:pt>
                <c:pt idx="23">
                  <c:v>18.899999999999999</c:v>
                </c:pt>
                <c:pt idx="24">
                  <c:v>15.87</c:v>
                </c:pt>
                <c:pt idx="25">
                  <c:v>11.85</c:v>
                </c:pt>
                <c:pt idx="26">
                  <c:v>15.23</c:v>
                </c:pt>
                <c:pt idx="27">
                  <c:v>18.850000000000001</c:v>
                </c:pt>
                <c:pt idx="28">
                  <c:v>17.11</c:v>
                </c:pt>
                <c:pt idx="29">
                  <c:v>15.17</c:v>
                </c:pt>
                <c:pt idx="30">
                  <c:v>15.29</c:v>
                </c:pt>
                <c:pt idx="31">
                  <c:v>14.31</c:v>
                </c:pt>
                <c:pt idx="32">
                  <c:v>17.73</c:v>
                </c:pt>
                <c:pt idx="33">
                  <c:v>16.66</c:v>
                </c:pt>
                <c:pt idx="34">
                  <c:v>19.73</c:v>
                </c:pt>
                <c:pt idx="35">
                  <c:v>17.96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4A-46F1-BE5C-664190B404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5B6B82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8"/>
        </c:scaling>
        <c:delete val="0"/>
        <c:axPos val="l"/>
        <c:majorGridlines>
          <c:spPr>
            <a:ln w="9525" cap="flat">
              <a:solidFill>
                <a:srgbClr val="E3E9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5B6B82"/>
                    </a:solidFill>
                    <a:latin typeface="Arial"/>
                  </a:rPr>
                  <a:t>Sales (₹ Million)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Bookshelf</c:v>
                </c:pt>
                <c:pt idx="1">
                  <c:v>Smartwatch</c:v>
                </c:pt>
                <c:pt idx="2">
                  <c:v>Office Chair</c:v>
                </c:pt>
                <c:pt idx="3">
                  <c:v>Air Cooler</c:v>
                </c:pt>
                <c:pt idx="4">
                  <c:v>Desk</c:v>
                </c:pt>
                <c:pt idx="5">
                  <c:v>Tablet</c:v>
                </c:pt>
                <c:pt idx="6">
                  <c:v>Smartphone</c:v>
                </c:pt>
                <c:pt idx="7">
                  <c:v>Laptop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1.94</c:v>
                </c:pt>
                <c:pt idx="1">
                  <c:v>2.0499999999999998</c:v>
                </c:pt>
                <c:pt idx="2">
                  <c:v>2.44</c:v>
                </c:pt>
                <c:pt idx="3">
                  <c:v>2.61</c:v>
                </c:pt>
                <c:pt idx="4">
                  <c:v>3.55</c:v>
                </c:pt>
                <c:pt idx="5">
                  <c:v>6.05</c:v>
                </c:pt>
                <c:pt idx="6">
                  <c:v>7.57</c:v>
                </c:pt>
                <c:pt idx="7">
                  <c:v>18.45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76-4DC8-B7FF-D9A88752A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16-47CA-AABC-827FC802C9A6}"/>
              </c:ext>
            </c:extLst>
          </c:dPt>
          <c:dPt>
            <c:idx val="1"/>
            <c:bubble3D val="0"/>
            <c:spPr>
              <a:solidFill>
                <a:srgbClr val="22D3E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16-47CA-AABC-827FC802C9A6}"/>
              </c:ext>
            </c:extLst>
          </c:dPt>
          <c:dPt>
            <c:idx val="2"/>
            <c:bubble3D val="0"/>
            <c:spPr>
              <a:solidFill>
                <a:srgbClr val="12305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16-47CA-AABC-827FC802C9A6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16-47CA-AABC-827FC802C9A6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B16-47CA-AABC-827FC802C9A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16-47CA-AABC-827FC802C9A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16-47CA-AABC-827FC802C9A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16-47CA-AABC-827FC802C9A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B16-47CA-AABC-827FC802C9A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B16-47CA-AABC-827FC802C9A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Furniture</c:v>
                </c:pt>
                <c:pt idx="2">
                  <c:v>Home Appliances</c:v>
                </c:pt>
                <c:pt idx="3">
                  <c:v>Fashion</c:v>
                </c:pt>
                <c:pt idx="4">
                  <c:v>Accessories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34.82</c:v>
                </c:pt>
                <c:pt idx="1">
                  <c:v>7.93</c:v>
                </c:pt>
                <c:pt idx="2">
                  <c:v>4.92</c:v>
                </c:pt>
                <c:pt idx="3">
                  <c:v>1.69</c:v>
                </c:pt>
                <c:pt idx="4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16-47CA-AABC-827FC802C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421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38100" cap="flat">
              <a:solidFill>
                <a:srgbClr val="1F6F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Jan 24</c:v>
                </c:pt>
                <c:pt idx="1">
                  <c:v>Feb 24</c:v>
                </c:pt>
                <c:pt idx="2">
                  <c:v>Mar 24</c:v>
                </c:pt>
                <c:pt idx="3">
                  <c:v>Apr 24</c:v>
                </c:pt>
                <c:pt idx="4">
                  <c:v>May 24</c:v>
                </c:pt>
                <c:pt idx="5">
                  <c:v>Jun 24</c:v>
                </c:pt>
                <c:pt idx="6">
                  <c:v>Jul 24</c:v>
                </c:pt>
                <c:pt idx="7">
                  <c:v>Aug 24</c:v>
                </c:pt>
                <c:pt idx="8">
                  <c:v>Sep 24</c:v>
                </c:pt>
                <c:pt idx="9">
                  <c:v>Oct 24</c:v>
                </c:pt>
                <c:pt idx="10">
                  <c:v>Nov 24</c:v>
                </c:pt>
                <c:pt idx="11">
                  <c:v>Dec 24</c:v>
                </c:pt>
                <c:pt idx="12">
                  <c:v>Jan 25</c:v>
                </c:pt>
                <c:pt idx="13">
                  <c:v>Feb 25</c:v>
                </c:pt>
                <c:pt idx="14">
                  <c:v>Mar 25</c:v>
                </c:pt>
                <c:pt idx="15">
                  <c:v>Apr 25</c:v>
                </c:pt>
                <c:pt idx="16">
                  <c:v>May 25</c:v>
                </c:pt>
                <c:pt idx="17">
                  <c:v>Jun 25</c:v>
                </c:pt>
                <c:pt idx="18">
                  <c:v>Jul 25</c:v>
                </c:pt>
                <c:pt idx="19">
                  <c:v>Aug 25</c:v>
                </c:pt>
                <c:pt idx="20">
                  <c:v>Sep 25</c:v>
                </c:pt>
                <c:pt idx="21">
                  <c:v>Oct 25</c:v>
                </c:pt>
                <c:pt idx="22">
                  <c:v>Nov 25</c:v>
                </c:pt>
                <c:pt idx="23">
                  <c:v>Dec 25</c:v>
                </c:pt>
                <c:pt idx="24">
                  <c:v>Jan 26</c:v>
                </c:pt>
                <c:pt idx="25">
                  <c:v>Feb 26</c:v>
                </c:pt>
                <c:pt idx="26">
                  <c:v>Mar 26</c:v>
                </c:pt>
                <c:pt idx="27">
                  <c:v>Apr 26</c:v>
                </c:pt>
                <c:pt idx="28">
                  <c:v>May 26</c:v>
                </c:pt>
                <c:pt idx="29">
                  <c:v>Jun 26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13.75</c:v>
                </c:pt>
                <c:pt idx="1">
                  <c:v>10.84</c:v>
                </c:pt>
                <c:pt idx="2">
                  <c:v>10.58</c:v>
                </c:pt>
                <c:pt idx="3">
                  <c:v>11.01</c:v>
                </c:pt>
                <c:pt idx="4">
                  <c:v>13.27</c:v>
                </c:pt>
                <c:pt idx="5">
                  <c:v>13.75</c:v>
                </c:pt>
                <c:pt idx="6">
                  <c:v>13.09</c:v>
                </c:pt>
                <c:pt idx="7">
                  <c:v>11.97</c:v>
                </c:pt>
                <c:pt idx="8">
                  <c:v>12.84</c:v>
                </c:pt>
                <c:pt idx="9">
                  <c:v>15.19</c:v>
                </c:pt>
                <c:pt idx="10">
                  <c:v>15.81</c:v>
                </c:pt>
                <c:pt idx="11">
                  <c:v>18.899999999999999</c:v>
                </c:pt>
                <c:pt idx="12">
                  <c:v>15.87</c:v>
                </c:pt>
                <c:pt idx="13">
                  <c:v>11.85</c:v>
                </c:pt>
                <c:pt idx="14">
                  <c:v>15.23</c:v>
                </c:pt>
                <c:pt idx="15">
                  <c:v>18.850000000000001</c:v>
                </c:pt>
                <c:pt idx="16">
                  <c:v>17.11</c:v>
                </c:pt>
                <c:pt idx="17">
                  <c:v>15.17</c:v>
                </c:pt>
                <c:pt idx="18">
                  <c:v>15.29</c:v>
                </c:pt>
                <c:pt idx="19">
                  <c:v>14.31</c:v>
                </c:pt>
                <c:pt idx="20">
                  <c:v>17.73</c:v>
                </c:pt>
                <c:pt idx="21">
                  <c:v>16.66</c:v>
                </c:pt>
                <c:pt idx="22">
                  <c:v>19.73</c:v>
                </c:pt>
                <c:pt idx="23">
                  <c:v>17.96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B8-438C-88D6-FE4DDFB527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Jan 24</c:v>
                </c:pt>
                <c:pt idx="1">
                  <c:v>Feb 24</c:v>
                </c:pt>
                <c:pt idx="2">
                  <c:v>Mar 24</c:v>
                </c:pt>
                <c:pt idx="3">
                  <c:v>Apr 24</c:v>
                </c:pt>
                <c:pt idx="4">
                  <c:v>May 24</c:v>
                </c:pt>
                <c:pt idx="5">
                  <c:v>Jun 24</c:v>
                </c:pt>
                <c:pt idx="6">
                  <c:v>Jul 24</c:v>
                </c:pt>
                <c:pt idx="7">
                  <c:v>Aug 24</c:v>
                </c:pt>
                <c:pt idx="8">
                  <c:v>Sep 24</c:v>
                </c:pt>
                <c:pt idx="9">
                  <c:v>Oct 24</c:v>
                </c:pt>
                <c:pt idx="10">
                  <c:v>Nov 24</c:v>
                </c:pt>
                <c:pt idx="11">
                  <c:v>Dec 24</c:v>
                </c:pt>
                <c:pt idx="12">
                  <c:v>Jan 25</c:v>
                </c:pt>
                <c:pt idx="13">
                  <c:v>Feb 25</c:v>
                </c:pt>
                <c:pt idx="14">
                  <c:v>Mar 25</c:v>
                </c:pt>
                <c:pt idx="15">
                  <c:v>Apr 25</c:v>
                </c:pt>
                <c:pt idx="16">
                  <c:v>May 25</c:v>
                </c:pt>
                <c:pt idx="17">
                  <c:v>Jun 25</c:v>
                </c:pt>
                <c:pt idx="18">
                  <c:v>Jul 25</c:v>
                </c:pt>
                <c:pt idx="19">
                  <c:v>Aug 25</c:v>
                </c:pt>
                <c:pt idx="20">
                  <c:v>Sep 25</c:v>
                </c:pt>
                <c:pt idx="21">
                  <c:v>Oct 25</c:v>
                </c:pt>
                <c:pt idx="22">
                  <c:v>Nov 25</c:v>
                </c:pt>
                <c:pt idx="23">
                  <c:v>Dec 25</c:v>
                </c:pt>
                <c:pt idx="24">
                  <c:v>Jan 26</c:v>
                </c:pt>
                <c:pt idx="25">
                  <c:v>Feb 26</c:v>
                </c:pt>
                <c:pt idx="26">
                  <c:v>Mar 26</c:v>
                </c:pt>
                <c:pt idx="27">
                  <c:v>Apr 26</c:v>
                </c:pt>
                <c:pt idx="28">
                  <c:v>May 26</c:v>
                </c:pt>
                <c:pt idx="29">
                  <c:v>Jun 26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24">
                  <c:v>17.61</c:v>
                </c:pt>
                <c:pt idx="25">
                  <c:v>17.82</c:v>
                </c:pt>
                <c:pt idx="26">
                  <c:v>18.02</c:v>
                </c:pt>
                <c:pt idx="27">
                  <c:v>18.22</c:v>
                </c:pt>
                <c:pt idx="28">
                  <c:v>18.43</c:v>
                </c:pt>
                <c:pt idx="29">
                  <c:v>18.63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B8-438C-88D6-FE4DDFB52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8"/>
        </c:scaling>
        <c:delete val="0"/>
        <c:axPos val="l"/>
        <c:majorGridlines>
          <c:spPr>
            <a:ln w="9525" cap="flat">
              <a:solidFill>
                <a:srgbClr val="E3E9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5B6B82"/>
                    </a:solidFill>
                    <a:latin typeface="Arial"/>
                  </a:rPr>
                  <a:t>Sales (₹ Million)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421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66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Namaste sir/ma'am. Main Mohit Tiwari hoon. Mera project hai "Sales Forecasting &amp; Demand Prediction Analysis", jo maine 3Skill mein Data Analyst intern ke roop mein kiya. Aaj main dikhaunga ki maine data se kya insights nikale.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Yahan basic details hain: company 3Skill, role Data Analyst, aur project ka naam. Project ka purpose simple hai: purani sales ko samajhna aur future demand ka andaza lagana. Maine 15,000 records ke saath kaam kiya.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ka matlab: 2023 se 2025 tak ki sales ka analysis aur agle 6 mahine ka forecast. Sales analysis se pata chalta hai kya, kab aur kahan bikta hai. Forecasting se hum pehle se inventory aur procurement plan kar sakte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ki problem: sales history aur peak demand clearly samajh nahi aata, isse inventory planning kamzor hoti hai. Maine analysis kiya (trend, product, category, region), aur solution mein dashboard, forecast aur recommendations diye.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 meri technology stack hai. Data PostgreSQL / SQL se aata hai, phir cleaning aur preparation, Excel mein analysis, Power BI mein dashboard, phir insights, forecasting aur recommendations. Skills: data cleaning, analysis, visualization aur sales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self-generated synthetic retail data hai, mentor ki permission se. 15,000 rows, 2023 se 2025 tak. Raw data mein Region aur Payment Method mein 20-20 blank values thi; Region ko "Unknown" mark kiya. Phir Year, Month, Week, Quarter columns add kiye aur Cleaned_Data sheet banayi.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 main KPIs hain: Total Sales ₹49.86 crore (₹498,568,380.58), 15,000 orders, 45,637 quantity, average order value ₹33,237.89. Top product Laptop, top category Electronics, aur peak month November 2025. Yearly sales bhi har saal badhi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 36 mahino ka sales trend hai. Overall trend upar ki taraf hai. Sabse high sales November 2025 mein hui, ₹19.73 million. Festive aur Q4 months mein uplift dikhta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analysis mein Laptop sabse upar hai, ₹18.45 crore, jo total sales ka lagbhag 37% hai. Category mein Electronics leading hai, ₹34.82 crore, lagbhag 70%. Uske baad Furniture aur Home Appliances aate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 forecast basic trend-based hai, jo Jan se Jun 2026 tak 6 mahine ka hai. Forecast ₹17.61 million se ₹18.63 million tak steadily badhta hai. Iska use inventory aur procurement planning ke liye ho sakta hai. Ye ek simple trend forecast hai, advanced model nahi.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Recommendations: peak se pehle high-demand products ka stock badhao, forecast se inventory aur procurement plan karo, Laptop jaise top products par focus karo, seasonal demand monitor karo taaki stock-out na ho, aur sales performance regularly review karo.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maine 15,000 orders ka analysis kiya, dashboard aur forecast banaya, aur recommendations diye. Is internship mein maine SQL/PostgreSQL, Excel, Power BI, data cleaning, analysis, visualization, forecasting aur business insights sikhe. Thank you, ab aap questions pooch sakte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212080"/>
            <a:ext cx="256032" cy="8229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33488" y="4937760"/>
            <a:ext cx="256032" cy="10972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17536" y="5074920"/>
            <a:ext cx="256032" cy="9601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01584" y="4663440"/>
            <a:ext cx="256032" cy="13716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85632" y="4800600"/>
            <a:ext cx="256032" cy="1234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69680" y="4297680"/>
            <a:ext cx="256032" cy="17373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253728" y="4480560"/>
            <a:ext cx="256032" cy="1554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37776" y="3840480"/>
            <a:ext cx="256032" cy="21945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021824" y="4114800"/>
            <a:ext cx="256032" cy="1920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405872" y="3383280"/>
            <a:ext cx="256032" cy="2651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789920" y="3657600"/>
            <a:ext cx="256032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173968" y="2926080"/>
            <a:ext cx="256032" cy="310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FINAL PROJECT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1645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31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3Skill  |  Data Analyst Internship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Mohit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Evaluation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where and what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751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3Skill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97510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19751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982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098280" y="2103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project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251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historical retail sales and build a basic trend-based forecast to support demand planning.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309360" y="3611880"/>
            <a:ext cx="5349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658368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worked on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583680" y="42519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prepared 15,000 sales records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trends, products, categories, regions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Power BI dashboard &amp; 6-month forecast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sales data into planning decisions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215341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project?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3 years of retail sales (2023–2025) with a 6-month forecast.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1534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8952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 analysis?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sells, when it sells and where it sells.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" y="46222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2024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forecasting?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9202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future demand so the business can prepare early.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21792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537960" y="4389120"/>
            <a:ext cx="777240" cy="77724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462229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8952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 planning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58952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stock levels, procurement and fewer stock-outs.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data-driven solution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history not clearly understood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categories unknown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unclear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inventory &amp; procurement planning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7091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603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 &amp; region performance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/ festive period demand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0F9D77"/>
          </a:solidFill>
          <a:ln w="12700">
            <a:solidFill>
              <a:srgbClr val="0F9D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5953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5603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KPIs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sales forecast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skills used across the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581912"/>
            <a:ext cx="420624" cy="420624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708099"/>
            <a:ext cx="168250" cy="168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508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3108960" y="20574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295144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8368" y="2368296"/>
            <a:ext cx="420624" cy="420624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2494483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22951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Cleaning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28437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081528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58368" y="3154680"/>
            <a:ext cx="420624" cy="420624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3280867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30815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108960" y="36301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867912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58368" y="3941064"/>
            <a:ext cx="420624" cy="420624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4067251"/>
            <a:ext cx="168250" cy="1682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8679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3108960" y="44165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654296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8368" y="4727448"/>
            <a:ext cx="420624" cy="420624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" y="4853635"/>
            <a:ext cx="168250" cy="16825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34440" y="46542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Forecasting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3108960" y="52029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5440680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58368" y="5513832"/>
            <a:ext cx="420624" cy="420624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555" y="5640019"/>
            <a:ext cx="168250" cy="16825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34440" y="5440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676656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766560" y="1828800"/>
            <a:ext cx="2331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931152" y="196596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2116836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543800" y="1828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6628" y="2116836"/>
            <a:ext cx="201168" cy="201168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058400" y="1828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4" name="Shape 34"/>
          <p:cNvSpPr/>
          <p:nvPr/>
        </p:nvSpPr>
        <p:spPr>
          <a:xfrm>
            <a:off x="6766560" y="2788920"/>
            <a:ext cx="2331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6931152" y="292608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28" y="3076956"/>
            <a:ext cx="201168" cy="201168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543800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48" name="Shape 37"/>
          <p:cNvSpPr/>
          <p:nvPr/>
        </p:nvSpPr>
        <p:spPr>
          <a:xfrm>
            <a:off x="9249156" y="1819656"/>
            <a:ext cx="2331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38"/>
          <p:cNvSpPr/>
          <p:nvPr/>
        </p:nvSpPr>
        <p:spPr>
          <a:xfrm>
            <a:off x="9445752" y="1956667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3486" y="2098921"/>
            <a:ext cx="201168" cy="201168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0106406" y="18276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67665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6766560" y="42976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12700">
            <a:solidFill>
              <a:srgbClr val="B9D2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2"/>
          <p:cNvSpPr txBox="1"/>
          <p:nvPr/>
        </p:nvSpPr>
        <p:spPr>
          <a:xfrm>
            <a:off x="67665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9235440" y="42976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12700">
            <a:solidFill>
              <a:srgbClr val="B9D2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4"/>
          <p:cNvSpPr txBox="1"/>
          <p:nvPr/>
        </p:nvSpPr>
        <p:spPr>
          <a:xfrm>
            <a:off x="923544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57" name="Shape 45"/>
          <p:cNvSpPr/>
          <p:nvPr/>
        </p:nvSpPr>
        <p:spPr>
          <a:xfrm>
            <a:off x="6766560" y="4846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12700">
            <a:solidFill>
              <a:srgbClr val="B9D2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6"/>
          <p:cNvSpPr txBox="1"/>
          <p:nvPr/>
        </p:nvSpPr>
        <p:spPr>
          <a:xfrm>
            <a:off x="676656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59" name="Shape 47"/>
          <p:cNvSpPr/>
          <p:nvPr/>
        </p:nvSpPr>
        <p:spPr>
          <a:xfrm>
            <a:off x="9235440" y="484632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12700">
            <a:solidFill>
              <a:srgbClr val="B9D2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48"/>
          <p:cNvSpPr txBox="1"/>
          <p:nvPr/>
        </p:nvSpPr>
        <p:spPr>
          <a:xfrm>
            <a:off x="9235440" y="4846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/ Demand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040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Preparation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56032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2023-01-01 to 2025-12-31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7200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15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columns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80644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2025-05-10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Chair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9,142.11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26,055.01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2023-05-02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6,846.19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11,638.52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ORD100004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2024-04-11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Headphones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2,371.77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4,743.54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from Raw_Data sheet (also has Discount, Payment_Method)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Cleaned_Data:  Year, Month, Month_Name, Week, Quarter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766560" y="155448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949440" y="180136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69494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19385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mentor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66560" y="265176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949440" y="289864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69494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30358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blank Region &amp; Payment_Method values found in raw data; Region marked "Unknown"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374904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949440" y="399592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69494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58952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589520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set, time fields added (Year, Month, Week, Quarter)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766560" y="484632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949440" y="5093208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69494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589520" y="4937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5230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Cleaned_Data sheet, 15,000 rows, no missing values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from the Power BI / Excel dashboard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B1F3A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₹49.86 Cr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₹498,568,380.58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5760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9224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45,637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32688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₹33,237.89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749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34340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61772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749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813816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41248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 MONTH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749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8138160" y="32461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41248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(₹ Cr)</a:t>
            </a:r>
            <a:endParaRPr lang="en-US" sz="11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8275320" y="3657600"/>
          <a:ext cx="333756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Excel Dashboard &amp; KPI_Summary sheets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539496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E0EC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≈ ₹33,238 across 15,000 orders  |  Sales grew each year: 2023 → 2024 → 2025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sales, Jan 2023 – Dec 2025 (₹ Million)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64592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686800" y="1508760"/>
            <a:ext cx="297180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9611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9611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₹19.73M highest monthly sales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0" y="3566160"/>
            <a:ext cx="29718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896112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41148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trend is increasing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sales in festive / Q4 months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is the highest month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leads; Laptop is the top product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(₹ Crore)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965960"/>
          <a:ext cx="64008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150876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72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5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7589520" y="1965960"/>
          <a:ext cx="3977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7498080" y="49377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B1F3A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7772400" y="4937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= ₹18.45 Cr (37% of sales)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₹34.82 Cr (70% of sales)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 / Demand Prediction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trend-based forecast for Jan – Jun 2026 (₹ Million)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64592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686800" y="1508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686800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₹17.61M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241280" y="150876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10241280" y="1645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₹18.63M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686800" y="2926080"/>
            <a:ext cx="2971800" cy="31089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9611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352044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rises steadily each month (about ₹0.2M)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plan stock and procurement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safety stock before peak periods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should do next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&amp; Demand Prediction Analysis  |  Mohit Kumar  |  3Skill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618488"/>
            <a:ext cx="585216" cy="5852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1794053"/>
            <a:ext cx="234086" cy="2340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50876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 before peaks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50876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higher inventory for high-demand products before peak periods.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0" y="150876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441448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77240" y="2551176"/>
            <a:ext cx="585216" cy="585216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2726741"/>
            <a:ext cx="234086" cy="23408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45920" y="244144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forecasts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244144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forecasts for better inventory and procurement planning.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1155680" y="2441448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3374136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77240" y="3483864"/>
            <a:ext cx="585216" cy="5852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659429"/>
            <a:ext cx="234086" cy="2340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45920" y="337413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top products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0" y="3374136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top-performing products such as laptops.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1155680" y="3374136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48640" y="4306824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77240" y="4416552"/>
            <a:ext cx="585216" cy="585216"/>
          </a:xfrm>
          <a:prstGeom prst="ellipse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592117"/>
            <a:ext cx="234086" cy="23408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45920" y="430682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seasonal demand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5029200" y="4306824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seasonal demand to avoid stock-outs.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1155680" y="430682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548640" y="5239512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E1EE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7240" y="5349240"/>
            <a:ext cx="585216" cy="58521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5524805"/>
            <a:ext cx="234086" cy="23408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45920" y="523951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regularly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5029200" y="523951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sales performance regularly and adjust planning accordingly.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1155680" y="5239512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12305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15,000 orders from 2023–2025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is increasing; peak in Nov 2025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Laptop lead sales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Power BI dashboard and a 6-month forecast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clear inventory &amp; planning recommendations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28016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12305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5836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5836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192024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905256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633472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58368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633472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05256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346704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583680" y="3346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3346704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052560" y="3346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059936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583680" y="40599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4059936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27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052560" y="40599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Kumar  |  3Skill Data Analyst Intern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1469</Words>
  <Application>Microsoft Office PowerPoint</Application>
  <PresentationFormat>Widescreen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Forecasting &amp; Demand Prediction Analysis</dc:title>
  <dc:subject>PptxGenJS Presentation</dc:subject>
  <dc:creator>Mohit Tiwari</dc:creator>
  <cp:lastModifiedBy>mohit sam</cp:lastModifiedBy>
  <cp:revision>3</cp:revision>
  <dcterms:created xsi:type="dcterms:W3CDTF">2026-09-20T16:47:06Z</dcterms:created>
  <dcterms:modified xsi:type="dcterms:W3CDTF">2026-09-21T18:25:56Z</dcterms:modified>
</cp:coreProperties>
</file>